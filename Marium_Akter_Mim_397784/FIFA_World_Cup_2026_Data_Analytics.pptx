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28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ANALYTICS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757"/>
              </a:lnSpc>
              <a:buNone/>
            </a:pPr>
            <a:r>
              <a:rPr lang="en-US" sz="9300" b="1" kern="0" spc="-18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FIFA World Cup 2026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1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Objective 1 — Data Analytics on 2026 World Cup Statistics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95"/>
            <a:ext cx="2030409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4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Marium Akter Mim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60276" y="8987195"/>
            <a:ext cx="152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07926" y="8987195"/>
            <a:ext cx="963454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4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s397784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66630" y="8987195"/>
            <a:ext cx="1524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14280" y="8987195"/>
            <a:ext cx="2643473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4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source: FBref.com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3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558" y="3477101"/>
            <a:ext cx="3296222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861"/>
              </a:lnSpc>
              <a:buNone/>
            </a:pPr>
            <a:r>
              <a:rPr lang="en-US" sz="19500" b="1" kern="0" spc="-39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58" y="6163151"/>
            <a:ext cx="4301014" cy="456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4800" b="1" kern="0" spc="-72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Methodology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·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67853"/>
            <a:ext cx="17640968" cy="456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4800" b="1" kern="0" spc="-72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Six Steps, Every Task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555683"/>
            <a:ext cx="5532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4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3000" y="4184333"/>
            <a:ext cx="5532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Analytic question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4736783"/>
            <a:ext cx="553212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9737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clear yes/no question for each task.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629400" y="31908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555683"/>
            <a:ext cx="5532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4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629400" y="4184333"/>
            <a:ext cx="5532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wrangling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629400" y="4736783"/>
            <a:ext cx="518007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9737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Cleaning team names, splitting scores, merging files.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15800" y="31908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115800" y="3555683"/>
            <a:ext cx="5532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4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115800" y="4184333"/>
            <a:ext cx="5532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Sampling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115800" y="4736783"/>
            <a:ext cx="518007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9737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Defining population vs. sample for each group.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6116003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480810"/>
            <a:ext cx="5532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4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143000" y="7109460"/>
            <a:ext cx="5532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Descriptive stats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43000" y="7661910"/>
            <a:ext cx="553212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9737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Mean, median, standard deviation.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629400" y="6116003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6480810"/>
            <a:ext cx="5532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4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629400" y="7109460"/>
            <a:ext cx="5532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Confidence interval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6629400" y="7661910"/>
            <a:ext cx="553212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9737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95% CI around the sample mean.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115800" y="6116003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115800" y="6480810"/>
            <a:ext cx="5532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42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115800" y="7109460"/>
            <a:ext cx="5532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t-Test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2115800" y="7661910"/>
            <a:ext cx="553212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9737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Two-sample t-test to check significance.</a:t>
            </a:r>
            <a:endParaRPr lang="en-US" sz="21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987195"/>
            <a:ext cx="4250174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3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558" y="3477101"/>
            <a:ext cx="3296222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861"/>
              </a:lnSpc>
              <a:buNone/>
            </a:pPr>
            <a:r>
              <a:rPr lang="en-US" sz="19500" b="1" kern="0" spc="-39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58" y="6163151"/>
            <a:ext cx="2486835" cy="456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4800" b="1" kern="0" spc="-72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Results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67853"/>
            <a:ext cx="17640968" cy="456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4800" b="1" kern="0" spc="-72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Analytic Tasks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190875"/>
            <a:ext cx="8298180" cy="336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3158"/>
              </a:lnSpc>
              <a:buNone/>
            </a:pPr>
            <a:r>
              <a:rPr lang="en-US" sz="2100" b="1" kern="0" spc="84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HOST VS. NON-HOST TEAMS — GOALS/MATCH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3622834"/>
            <a:ext cx="18649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2.00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143000" y="4461034"/>
            <a:ext cx="18649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28950" y="4057174"/>
            <a:ext cx="375047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83"/>
              </a:lnSpc>
              <a:buNone/>
            </a:pPr>
            <a:r>
              <a:rPr lang="en-US" sz="1650" b="1" dirty="0">
                <a:solidFill>
                  <a:srgbClr val="201E1E">
                    <a:alpha val="4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518297" y="3622834"/>
            <a:ext cx="18649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1.58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3518297" y="4461034"/>
            <a:ext cx="18649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Non-host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4895850"/>
            <a:ext cx="1428869" cy="28289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4933950"/>
            <a:ext cx="1314569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2763"/>
              </a:lnSpc>
              <a:buNone/>
            </a:pPr>
            <a:r>
              <a:rPr lang="en-US" sz="1050" kern="0" spc="42" dirty="0">
                <a:solidFill>
                  <a:srgbClr val="201F1D">
                    <a:alpha val="6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 SIGNIFICANT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67119" y="4889659"/>
            <a:ext cx="868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 = 0.350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0" y="3190875"/>
            <a:ext cx="8298180" cy="336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3158"/>
              </a:lnSpc>
              <a:buNone/>
            </a:pPr>
            <a:r>
              <a:rPr lang="en-US" sz="2100" b="1" kern="0" spc="84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UEFA VS. CONMEBOL — YELLOW CARDS/90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1200" y="3622834"/>
            <a:ext cx="18649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0.99</a:t>
            </a:r>
            <a:endParaRPr lang="en-US" sz="6300" dirty="0"/>
          </a:p>
        </p:txBody>
      </p:sp>
      <p:sp>
        <p:nvSpPr>
          <p:cNvPr id="15" name="Text 13"/>
          <p:cNvSpPr/>
          <p:nvPr/>
        </p:nvSpPr>
        <p:spPr>
          <a:xfrm>
            <a:off x="9601200" y="4461034"/>
            <a:ext cx="18649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UEFA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87150" y="4057174"/>
            <a:ext cx="375047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83"/>
              </a:lnSpc>
              <a:buNone/>
            </a:pPr>
            <a:r>
              <a:rPr lang="en-US" sz="1650" b="1" dirty="0">
                <a:solidFill>
                  <a:srgbClr val="201E1E">
                    <a:alpha val="4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976497" y="3622834"/>
            <a:ext cx="18649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1.69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11976497" y="4461034"/>
            <a:ext cx="18649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CONMEBOL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0" y="4895850"/>
            <a:ext cx="1098709" cy="28289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0" name="Text 18"/>
          <p:cNvSpPr/>
          <p:nvPr/>
        </p:nvSpPr>
        <p:spPr>
          <a:xfrm>
            <a:off x="9696450" y="4933950"/>
            <a:ext cx="984409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2763"/>
              </a:lnSpc>
              <a:buNone/>
            </a:pPr>
            <a:r>
              <a:rPr lang="en-US" sz="1050" kern="0" spc="42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795159" y="4889659"/>
            <a:ext cx="868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 &lt; 0.001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870734"/>
            <a:ext cx="8298180" cy="336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3158"/>
              </a:lnSpc>
              <a:buNone/>
            </a:pPr>
            <a:r>
              <a:rPr lang="en-US" sz="2100" b="1" kern="0" spc="84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KNOCKOUT VS. GROUP-ONLY — GK SAVE 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000" y="6302693"/>
            <a:ext cx="271341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6300" b="1" kern="0" spc="-126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68.0%</a:t>
            </a:r>
            <a:endParaRPr lang="en-US" sz="6300" dirty="0"/>
          </a:p>
        </p:txBody>
      </p:sp>
      <p:sp>
        <p:nvSpPr>
          <p:cNvPr id="24" name="Text 22"/>
          <p:cNvSpPr/>
          <p:nvPr/>
        </p:nvSpPr>
        <p:spPr>
          <a:xfrm>
            <a:off x="1143000" y="7140893"/>
            <a:ext cx="27134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Knockout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00237" y="6737032"/>
            <a:ext cx="375047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83"/>
              </a:lnSpc>
              <a:buNone/>
            </a:pPr>
            <a:r>
              <a:rPr lang="en-US" sz="1650" b="1" dirty="0">
                <a:solidFill>
                  <a:srgbClr val="201E1E">
                    <a:alpha val="4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289584" y="6302693"/>
            <a:ext cx="271341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58.5%</a:t>
            </a:r>
            <a:endParaRPr lang="en-US" sz="6300" dirty="0"/>
          </a:p>
        </p:txBody>
      </p:sp>
      <p:sp>
        <p:nvSpPr>
          <p:cNvPr id="27" name="Text 25"/>
          <p:cNvSpPr/>
          <p:nvPr/>
        </p:nvSpPr>
        <p:spPr>
          <a:xfrm>
            <a:off x="4289584" y="7140893"/>
            <a:ext cx="27134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Group only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43000" y="7575709"/>
            <a:ext cx="1098709" cy="28289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9" name="Text 27"/>
          <p:cNvSpPr/>
          <p:nvPr/>
        </p:nvSpPr>
        <p:spPr>
          <a:xfrm>
            <a:off x="1238250" y="7613809"/>
            <a:ext cx="984409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2763"/>
              </a:lnSpc>
              <a:buNone/>
            </a:pPr>
            <a:r>
              <a:rPr lang="en-US" sz="1050" kern="0" spc="42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36959" y="7569518"/>
            <a:ext cx="868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 = 0.030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0" y="5870734"/>
            <a:ext cx="8298180" cy="336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3158"/>
              </a:lnSpc>
              <a:buNone/>
            </a:pPr>
            <a:r>
              <a:rPr lang="en-US" sz="2100" b="1" kern="0" spc="84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STARTERS VS. SUBSTITUTES — G+A PER 90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601200" y="6302693"/>
            <a:ext cx="18649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0.23</a:t>
            </a:r>
            <a:endParaRPr lang="en-US" sz="6300" dirty="0"/>
          </a:p>
        </p:txBody>
      </p:sp>
      <p:sp>
        <p:nvSpPr>
          <p:cNvPr id="33" name="Text 31"/>
          <p:cNvSpPr/>
          <p:nvPr/>
        </p:nvSpPr>
        <p:spPr>
          <a:xfrm>
            <a:off x="9601200" y="7140893"/>
            <a:ext cx="18649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Starters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87150" y="6737032"/>
            <a:ext cx="375047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83"/>
              </a:lnSpc>
              <a:buNone/>
            </a:pPr>
            <a:r>
              <a:rPr lang="en-US" sz="1650" b="1" dirty="0">
                <a:solidFill>
                  <a:srgbClr val="201E1E">
                    <a:alpha val="4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976497" y="6302693"/>
            <a:ext cx="18649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05"/>
              </a:lnSpc>
              <a:buNone/>
            </a:pPr>
            <a:r>
              <a:rPr lang="en-US" sz="6300" b="1" kern="0" spc="-12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0.35</a:t>
            </a:r>
            <a:endParaRPr lang="en-US" sz="6300" dirty="0"/>
          </a:p>
        </p:txBody>
      </p:sp>
      <p:sp>
        <p:nvSpPr>
          <p:cNvPr id="36" name="Text 34"/>
          <p:cNvSpPr/>
          <p:nvPr/>
        </p:nvSpPr>
        <p:spPr>
          <a:xfrm>
            <a:off x="11976497" y="7140893"/>
            <a:ext cx="18649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01E1C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601200" y="7575709"/>
            <a:ext cx="1428869" cy="28289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38" name="Text 36"/>
          <p:cNvSpPr/>
          <p:nvPr/>
        </p:nvSpPr>
        <p:spPr>
          <a:xfrm>
            <a:off x="9696450" y="7613809"/>
            <a:ext cx="1314569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42763"/>
              </a:lnSpc>
              <a:buNone/>
            </a:pPr>
            <a:r>
              <a:rPr lang="en-US" sz="1050" kern="0" spc="42" dirty="0">
                <a:solidFill>
                  <a:srgbClr val="201F1D">
                    <a:alpha val="6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 SIGNIFICANT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125320" y="7569518"/>
            <a:ext cx="868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3519"/>
              </a:lnSpc>
              <a:buNone/>
            </a:pPr>
            <a:r>
              <a:rPr lang="en-US" sz="15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 = 0.217</a:t>
            </a:r>
            <a:endParaRPr lang="en-US" sz="15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987195"/>
            <a:ext cx="4250174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3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558" y="3477101"/>
            <a:ext cx="3296222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861"/>
              </a:lnSpc>
              <a:buNone/>
            </a:pPr>
            <a:r>
              <a:rPr lang="en-US" sz="19500" b="1" kern="0" spc="-390" dirty="0">
                <a:solidFill>
                  <a:srgbClr val="AE18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58" y="6163151"/>
            <a:ext cx="2815697" cy="456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4800" b="1" kern="0" spc="-72" dirty="0">
                <a:solidFill>
                  <a:srgbClr val="F3F2F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Findings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67853"/>
            <a:ext cx="17640968" cy="456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4800" b="1" kern="0" spc="-72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Lessons Learned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555683"/>
            <a:ext cx="553212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909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222433"/>
            <a:ext cx="5532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Data cleaning matters most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4793933"/>
            <a:ext cx="5180076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schedule file wrote home teams as "Mexico mx" but away teams as "za South Africa" — same file, two formats. A first pass missed this and quietly broke two tasks.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629400" y="31908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3555683"/>
            <a:ext cx="553212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909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29400" y="4222433"/>
            <a:ext cx="5532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Small samples are unstable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629400" y="4793933"/>
            <a:ext cx="5180076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substitute scoring in a short time on the pitch can post a very high goals-plus-assists-per-90 number. This affected the starters vs. substitutes comparison.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15800" y="3190875"/>
            <a:ext cx="5029200" cy="1524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115800" y="3555683"/>
            <a:ext cx="553212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909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115800" y="4222433"/>
            <a:ext cx="51800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b="1" kern="0" spc="-38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 against an outside source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115800" y="5251132"/>
            <a:ext cx="5180076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2100" dirty="0">
                <a:solidFill>
                  <a:srgbClr val="1F1E1C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Match totals were checked against publicly reported 2026 World Cup figures — 104 matches, 308 goals — before trusting any further analysis.</a:t>
            </a:r>
            <a:endParaRPr lang="en-US" sz="2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987195"/>
            <a:ext cx="4250174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686050"/>
            <a:ext cx="17602200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912"/>
              </a:lnSpc>
              <a:buNone/>
            </a:pPr>
            <a:r>
              <a:rPr lang="en-US" sz="22500" b="1" kern="0" spc="-450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2/4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1143000" y="6000750"/>
            <a:ext cx="1169282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tasks showed a statistically significant difference — card discipline by confederation, and goalkeeper save percentage by tournament stage.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987195"/>
            <a:ext cx="4250174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876"/>
            <a:ext cx="17602200" cy="194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0000" lnSpcReduction="20000"/>
          </a:bodyPr>
          <a:lstStyle/>
          <a:p>
            <a:pPr marL="0" indent="0" algn="l">
              <a:lnSpc>
                <a:spcPct val="145312"/>
              </a:lnSpc>
              <a:buNone/>
            </a:pPr>
            <a:r>
              <a:rPr lang="en-US" sz="1800" kern="0" spc="144" dirty="0">
                <a:solidFill>
                  <a:srgbClr val="EC301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· 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58" y="1867853"/>
            <a:ext cx="17640968" cy="456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4800" b="1" kern="0" spc="-72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30"/>
            <a:ext cx="13637895" cy="186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Host-team goals and starter-vs-substitute contribution did not show a significant difference in this sample.</a:t>
            </a:r>
            <a:endParaRPr lang="en-US" sz="2550" dirty="0"/>
          </a:p>
          <a:p>
            <a:pPr marL="0" indent="0" algn="l">
              <a:lnSpc>
                <a:spcPct val="130435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six required skills — question, wrangling, sampling, descriptive stats, confidence interval, t-test — were applied consistently across every task.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987195"/>
            <a:ext cx="4250174" cy="156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74539" y="40005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757"/>
              </a:lnSpc>
              <a:buNone/>
            </a:pPr>
            <a:r>
              <a:rPr lang="en-US" sz="9300" b="1" kern="0" spc="-186" dirty="0">
                <a:solidFill>
                  <a:srgbClr val="201E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Thank You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600700"/>
            <a:ext cx="100860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373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Archivo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3</cp:revision>
  <dcterms:created xsi:type="dcterms:W3CDTF">2026-09-10T20:19:32Z</dcterms:created>
  <dcterms:modified xsi:type="dcterms:W3CDTF">2026-09-10T20:30:21Z</dcterms:modified>
</cp:coreProperties>
</file>