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62" r:id="rId3"/>
    <p:sldId id="257" r:id="rId4"/>
    <p:sldId id="258" r:id="rId5"/>
    <p:sldId id="259" r:id="rId6"/>
    <p:sldId id="260" r:id="rId7"/>
    <p:sldId id="263" r:id="rId8"/>
    <p:sldId id="261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67462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556"/>
          </a:solidFill>
          <a:ln w="12700">
            <a:solidFill>
              <a:srgbClr val="1B355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64922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HIT140 • Foundations of Data Science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498080" y="64922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FIFA World Cup 2026 • Analytic Task 1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886200" cy="6858000"/>
          </a:xfrm>
          <a:prstGeom prst="rect">
            <a:avLst/>
          </a:prstGeom>
          <a:solidFill>
            <a:srgbClr val="1B3556"/>
          </a:solidFill>
          <a:ln w="12700">
            <a:solidFill>
              <a:srgbClr val="1B355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868680" y="868680"/>
            <a:ext cx="2057400" cy="2057400"/>
          </a:xfrm>
          <a:prstGeom prst="ellipse">
            <a:avLst/>
          </a:prstGeom>
          <a:solidFill>
            <a:srgbClr val="FFFFFF">
              <a:alpha val="8000"/>
            </a:srgbClr>
          </a:solidFill>
          <a:ln w="1778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417320" y="1417320"/>
            <a:ext cx="960120" cy="960120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13232" y="3337560"/>
            <a:ext cx="26517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FIFA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WORLD CUP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2026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31520" y="504748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D8E4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FOUNDATIONS OF DATA SCIENCE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434840" y="10515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7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 Task 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407408" y="1481328"/>
            <a:ext cx="6858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400"/>
              <a:t>Shooting Accuracy:</a:t>
            </a:r>
          </a:p>
          <a:p>
            <a:r>
              <a:rPr sz="2400"/>
              <a:t>Knockout vs Group-Stage Eliminated Teams</a:t>
            </a:r>
          </a:p>
        </p:txBody>
      </p:sp>
      <p:sp>
        <p:nvSpPr>
          <p:cNvPr id="10" name="Text 8"/>
          <p:cNvSpPr/>
          <p:nvPr/>
        </p:nvSpPr>
        <p:spPr>
          <a:xfrm>
            <a:off x="4443984" y="2907792"/>
            <a:ext cx="6720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teams that reached the knockout stage have higher average shooting accuracy than teams eliminated in the group stage?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443984" y="4005072"/>
            <a:ext cx="6263640" cy="0"/>
          </a:xfrm>
          <a:prstGeom prst="line">
            <a:avLst/>
          </a:prstGeom>
          <a:noFill/>
          <a:ln w="1524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443984" y="429768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Presenter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443984" y="455371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Krupa Maria Salim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635240" y="4297680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635240" y="455371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HIT140 • Foundations of Data Science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443984" y="58704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source: FBref • 2026 World Cup Squad Shooting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B3556"/>
                </a:solidFill>
                <a:latin typeface="Aptos Display"/>
              </a:rPr>
              <a:t>1.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58952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F6B7A"/>
                </a:solidFill>
                <a:latin typeface="Aptos"/>
              </a:rPr>
              <a:t>A reproducible Python workflow from raw FBref data to statistical inference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419088"/>
            <a:ext cx="274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7B8794"/>
                </a:solidFill>
                <a:latin typeface="Aptos"/>
              </a:rPr>
              <a:t>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15468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86968" y="1618488"/>
            <a:ext cx="530352" cy="384048"/>
          </a:xfrm>
          <a:prstGeom prst="roundRect">
            <a:avLst/>
          </a:prstGeom>
          <a:solidFill>
            <a:srgbClr val="EAF2FB"/>
          </a:solidFill>
          <a:ln>
            <a:solidFill>
              <a:srgbClr val="EAF2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627632"/>
            <a:ext cx="53035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2B6CB0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27048" y="1627632"/>
            <a:ext cx="1920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B3556"/>
                </a:solidFill>
                <a:latin typeface="Aptos"/>
              </a:rPr>
              <a:t>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67128"/>
            <a:ext cx="2697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30" b="0">
                <a:solidFill>
                  <a:srgbClr val="5F6B7A"/>
                </a:solidFill>
                <a:latin typeface="Aptos"/>
              </a:rPr>
              <a:t>Compare shooting accuracy between knockout and group-stage-eliminated teams.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1417320"/>
            <a:ext cx="315468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361688" y="1618488"/>
            <a:ext cx="530352" cy="384048"/>
          </a:xfrm>
          <a:prstGeom prst="roundRect">
            <a:avLst/>
          </a:prstGeom>
          <a:solidFill>
            <a:srgbClr val="DFF4F1"/>
          </a:solidFill>
          <a:ln>
            <a:solidFill>
              <a:srgbClr val="DF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61688" y="1627632"/>
            <a:ext cx="53035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F7A7A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01768" y="1627632"/>
            <a:ext cx="1920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B3556"/>
                </a:solidFill>
                <a:latin typeface="Aptos"/>
              </a:rPr>
              <a:t>Prepare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167128"/>
            <a:ext cx="2697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30" b="0">
                <a:solidFill>
                  <a:srgbClr val="5F6B7A"/>
                </a:solidFill>
                <a:latin typeface="Aptos"/>
              </a:rPr>
              <a:t>Select Squad, Sh, SoT and SoT%; clean team names and check data quality.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35240" y="1417320"/>
            <a:ext cx="315468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836408" y="1618488"/>
            <a:ext cx="530352" cy="384048"/>
          </a:xfrm>
          <a:prstGeom prst="roundRect">
            <a:avLst/>
          </a:prstGeom>
          <a:solidFill>
            <a:srgbClr val="FFF5D6"/>
          </a:solidFill>
          <a:ln>
            <a:solidFill>
              <a:srgbClr val="FFF5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836408" y="1627632"/>
            <a:ext cx="53035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F2937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6488" y="1627632"/>
            <a:ext cx="1920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B3556"/>
                </a:solidFill>
                <a:latin typeface="Aptos"/>
              </a:rPr>
              <a:t>Construct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2167128"/>
            <a:ext cx="2697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30" b="0">
                <a:solidFill>
                  <a:srgbClr val="5F6B7A"/>
                </a:solidFill>
                <a:latin typeface="Aptos"/>
              </a:rPr>
              <a:t>Create Shooting Accuracy = SoT / Sh × 100 and validate against FBref SoT%.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703320"/>
            <a:ext cx="315468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86968" y="3904488"/>
            <a:ext cx="530352" cy="384048"/>
          </a:xfrm>
          <a:prstGeom prst="roundRect">
            <a:avLst/>
          </a:prstGeom>
          <a:solidFill>
            <a:srgbClr val="EAF7EF"/>
          </a:solidFill>
          <a:ln>
            <a:solidFill>
              <a:srgbClr val="EAF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86968" y="3913632"/>
            <a:ext cx="53035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F7A7A"/>
                </a:solidFill>
                <a:latin typeface="Apto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27048" y="3913632"/>
            <a:ext cx="1920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B3556"/>
                </a:solidFill>
                <a:latin typeface="Aptos"/>
              </a:rPr>
              <a:t>Sample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453128"/>
            <a:ext cx="2697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30" b="0">
                <a:solidFill>
                  <a:srgbClr val="5F6B7A"/>
                </a:solidFill>
                <a:latin typeface="Aptos"/>
              </a:rPr>
              <a:t>Use proportionate stratified random sampling: 24 knockout + 12 eliminated teams.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60520" y="3703320"/>
            <a:ext cx="315468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4361688" y="3904488"/>
            <a:ext cx="530352" cy="384048"/>
          </a:xfrm>
          <a:prstGeom prst="roundRect">
            <a:avLst/>
          </a:prstGeom>
          <a:solidFill>
            <a:srgbClr val="EAF2FB"/>
          </a:solidFill>
          <a:ln>
            <a:solidFill>
              <a:srgbClr val="EAF2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361688" y="3913632"/>
            <a:ext cx="53035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2B6CB0"/>
                </a:solidFill>
                <a:latin typeface="Aptos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01768" y="3913632"/>
            <a:ext cx="1920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B3556"/>
                </a:solidFill>
                <a:latin typeface="Aptos"/>
              </a:rPr>
              <a:t>Describe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4453128"/>
            <a:ext cx="2697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30" b="0">
                <a:solidFill>
                  <a:srgbClr val="5F6B7A"/>
                </a:solidFill>
                <a:latin typeface="Aptos"/>
              </a:rPr>
              <a:t>Summarise means, medians, spread, boxplot and 95% confidence intervals.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635240" y="3703320"/>
            <a:ext cx="315468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7836408" y="3904488"/>
            <a:ext cx="530352" cy="384048"/>
          </a:xfrm>
          <a:prstGeom prst="roundRect">
            <a:avLst/>
          </a:prstGeom>
          <a:solidFill>
            <a:srgbClr val="DFF4F1"/>
          </a:solidFill>
          <a:ln>
            <a:solidFill>
              <a:srgbClr val="DF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836408" y="3913632"/>
            <a:ext cx="53035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F7A7A"/>
                </a:solidFill>
                <a:latin typeface="Aptos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76488" y="3913632"/>
            <a:ext cx="1920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B3556"/>
                </a:solidFill>
                <a:latin typeface="Aptos"/>
              </a:rPr>
              <a:t>Infer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63840" y="4453128"/>
            <a:ext cx="2697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30" b="0">
                <a:solidFill>
                  <a:srgbClr val="5F6B7A"/>
                </a:solidFill>
                <a:latin typeface="Aptos"/>
              </a:rPr>
              <a:t>Check normality, then apply a one-sided Welch two-sample t-test at α = 0.05.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85800" y="5833872"/>
            <a:ext cx="10104120" cy="402336"/>
          </a:xfrm>
          <a:prstGeom prst="roundRect">
            <a:avLst/>
          </a:prstGeom>
          <a:solidFill>
            <a:srgbClr val="F7F9FB"/>
          </a:solidFill>
          <a:ln w="12700">
            <a:solidFill>
              <a:srgbClr val="F7F9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68680" y="5916168"/>
            <a:ext cx="97383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5F6B7A"/>
                </a:solidFill>
                <a:latin typeface="Aptos"/>
              </a:rPr>
              <a:t>All data wrangling, statistical analysis and visualisation were completed in Python.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355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Research Question &amp; Study Design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75895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focused team-level comparison using FBref squad shooting data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03504" y="1101012"/>
            <a:ext cx="6812280" cy="1404444"/>
          </a:xfrm>
          <a:prstGeom prst="roundRect">
            <a:avLst>
              <a:gd name="adj" fmla="val 5926"/>
            </a:avLst>
          </a:prstGeom>
          <a:solidFill>
            <a:srgbClr val="EAF2FB"/>
          </a:solidFill>
          <a:ln w="12700">
            <a:solidFill>
              <a:srgbClr val="C9DD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886968" y="1270176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" dirty="0">
                <a:solidFill>
                  <a:srgbClr val="2B6C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QUESTION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" y="1719072"/>
            <a:ext cx="6172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B355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 knockout-stage teams have higher average shooting accuracy than group-stage-eliminated teams?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603504" y="2697480"/>
            <a:ext cx="46634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868680" y="29443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7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Variable of interest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327355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B355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Shooting Accuracy (%)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868680" y="377647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Shots on Target  ÷  Total Shots  ×  100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68680" y="4315968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a rate? It is more comparable than raw shot totals when teams play different numbers of matches.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504688" y="2697480"/>
            <a:ext cx="608076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5806440" y="294436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7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Study design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806440" y="3310128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Population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995160" y="3310128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48 teams at FIFA World Cup 2026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806440" y="3657600"/>
            <a:ext cx="5303520" cy="0"/>
          </a:xfrm>
          <a:prstGeom prst="line">
            <a:avLst/>
          </a:prstGeom>
          <a:noFill/>
          <a:ln w="10160">
            <a:solidFill>
              <a:srgbClr val="E7EC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5806440" y="3767328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995160" y="3767328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national team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806440" y="4114800"/>
            <a:ext cx="5303520" cy="0"/>
          </a:xfrm>
          <a:prstGeom prst="line">
            <a:avLst/>
          </a:prstGeom>
          <a:noFill/>
          <a:ln w="10160">
            <a:solidFill>
              <a:srgbClr val="E7EC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5806440" y="4224528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995160" y="4224528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 knockout • 16 eliminated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806440" y="4572000"/>
            <a:ext cx="5303520" cy="0"/>
          </a:xfrm>
          <a:prstGeom prst="line">
            <a:avLst/>
          </a:prstGeom>
          <a:noFill/>
          <a:ln w="10160">
            <a:solidFill>
              <a:srgbClr val="E7EC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5806440" y="4681728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995160" y="4681728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050"/>
              <a:t>36 teams: 24 knockout • 12 eliminated</a:t>
            </a:r>
          </a:p>
        </p:txBody>
      </p:sp>
      <p:sp>
        <p:nvSpPr>
          <p:cNvPr id="25" name="Shape 23"/>
          <p:cNvSpPr/>
          <p:nvPr/>
        </p:nvSpPr>
        <p:spPr>
          <a:xfrm>
            <a:off x="603504" y="5376672"/>
            <a:ext cx="2249424" cy="310896"/>
          </a:xfrm>
          <a:prstGeom prst="roundRect">
            <a:avLst/>
          </a:prstGeom>
          <a:solidFill>
            <a:srgbClr val="DFF4F1"/>
          </a:solidFill>
          <a:ln w="12700">
            <a:solidFill>
              <a:srgbClr val="DFF4F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649224" y="5404104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880"/>
              <a:t>Sampling frame: 48 FBref teams</a:t>
            </a:r>
          </a:p>
        </p:txBody>
      </p:sp>
      <p:sp>
        <p:nvSpPr>
          <p:cNvPr id="27" name="Shape 25"/>
          <p:cNvSpPr/>
          <p:nvPr/>
        </p:nvSpPr>
        <p:spPr>
          <a:xfrm>
            <a:off x="2980944" y="5376672"/>
            <a:ext cx="1993392" cy="310896"/>
          </a:xfrm>
          <a:prstGeom prst="roundRect">
            <a:avLst/>
          </a:prstGeom>
          <a:solidFill>
            <a:srgbClr val="FFF5D6"/>
          </a:solidFill>
          <a:ln w="12700">
            <a:solidFill>
              <a:srgbClr val="FFF5D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3026664" y="5404104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880"/>
              <a:t>Unit: one national team</a:t>
            </a:r>
          </a:p>
        </p:txBody>
      </p:sp>
      <p:sp>
        <p:nvSpPr>
          <p:cNvPr id="29" name="Shape 27"/>
          <p:cNvSpPr/>
          <p:nvPr/>
        </p:nvSpPr>
        <p:spPr>
          <a:xfrm>
            <a:off x="5102352" y="5376672"/>
            <a:ext cx="2560320" cy="310896"/>
          </a:xfrm>
          <a:prstGeom prst="roundRect">
            <a:avLst/>
          </a:prstGeom>
          <a:solidFill>
            <a:srgbClr val="EAF7EF"/>
          </a:solidFill>
          <a:ln w="12700">
            <a:solidFill>
              <a:srgbClr val="EAF7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5148072" y="5404104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819"/>
              <a:t>Method: proportionate stratified random sampling</a:t>
            </a:r>
          </a:p>
        </p:txBody>
      </p:sp>
      <p:sp>
        <p:nvSpPr>
          <p:cNvPr id="31" name="Text 29"/>
          <p:cNvSpPr/>
          <p:nvPr/>
        </p:nvSpPr>
        <p:spPr>
          <a:xfrm>
            <a:off x="603504" y="6208776"/>
            <a:ext cx="10927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FBref, Squad Shooting — 2026 World Cup.</a:t>
            </a:r>
            <a:endParaRPr lang="en-US" sz="85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r>
              <a:rPr sz="900">
                <a:solidFill>
                  <a:srgbClr val="7B8794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355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Data Preparation, Validation &amp; Sampling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75895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workflow was kept simple, reproducible and aligned with the analytic question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21792" y="1353312"/>
            <a:ext cx="2148840" cy="1920240"/>
          </a:xfrm>
          <a:prstGeom prst="roundRect">
            <a:avLst>
              <a:gd name="adj" fmla="val 3810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768096" y="1508760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B6CB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68096" y="193852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355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Select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68096" y="2340864"/>
            <a:ext cx="1810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Squad, Sh, SoT, SoT%</a:t>
            </a:r>
            <a:endParaRPr lang="en-US" sz="1130" dirty="0"/>
          </a:p>
        </p:txBody>
      </p:sp>
      <p:sp>
        <p:nvSpPr>
          <p:cNvPr id="8" name="Text 6"/>
          <p:cNvSpPr/>
          <p:nvPr/>
        </p:nvSpPr>
        <p:spPr>
          <a:xfrm>
            <a:off x="2779776" y="1993392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AA8B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926080" y="1353312"/>
            <a:ext cx="2148840" cy="1920240"/>
          </a:xfrm>
          <a:prstGeom prst="roundRect">
            <a:avLst>
              <a:gd name="adj" fmla="val 3810"/>
            </a:avLst>
          </a:prstGeom>
          <a:solidFill>
            <a:srgbClr val="EEF7F7"/>
          </a:solidFill>
          <a:ln w="12700">
            <a:solidFill>
              <a:srgbClr val="EEF7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3072384" y="1508760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7A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072384" y="193852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355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Clean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072384" y="2340864"/>
            <a:ext cx="1810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Remove country prefixes from team names</a:t>
            </a:r>
            <a:endParaRPr lang="en-US" sz="1130" dirty="0"/>
          </a:p>
        </p:txBody>
      </p:sp>
      <p:sp>
        <p:nvSpPr>
          <p:cNvPr id="13" name="Text 11"/>
          <p:cNvSpPr/>
          <p:nvPr/>
        </p:nvSpPr>
        <p:spPr>
          <a:xfrm>
            <a:off x="5084064" y="1993392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AA8B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230368" y="1353312"/>
            <a:ext cx="2148840" cy="1920240"/>
          </a:xfrm>
          <a:prstGeom prst="roundRect">
            <a:avLst>
              <a:gd name="adj" fmla="val 3810"/>
            </a:avLst>
          </a:prstGeom>
          <a:solidFill>
            <a:srgbClr val="FFF5D6"/>
          </a:solidFill>
          <a:ln w="12700">
            <a:solidFill>
              <a:srgbClr val="FFF5D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5376672" y="1508760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A6B1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376672" y="193852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355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Construct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376672" y="2340864"/>
            <a:ext cx="1810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Shooting Accuracy = SoT / Sh × 100</a:t>
            </a:r>
            <a:endParaRPr lang="en-US" sz="1130" dirty="0"/>
          </a:p>
        </p:txBody>
      </p:sp>
      <p:sp>
        <p:nvSpPr>
          <p:cNvPr id="18" name="Text 16"/>
          <p:cNvSpPr/>
          <p:nvPr/>
        </p:nvSpPr>
        <p:spPr>
          <a:xfrm>
            <a:off x="7388352" y="1993392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AA8B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7534656" y="1353312"/>
            <a:ext cx="2148840" cy="1920240"/>
          </a:xfrm>
          <a:prstGeom prst="roundRect">
            <a:avLst>
              <a:gd name="adj" fmla="val 3810"/>
            </a:avLst>
          </a:prstGeom>
          <a:solidFill>
            <a:srgbClr val="EAF7EF"/>
          </a:solidFill>
          <a:ln w="12700">
            <a:solidFill>
              <a:srgbClr val="EAF7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7680960" y="1508760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F85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680960" y="193852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355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Validate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680960" y="2340864"/>
            <a:ext cx="1810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with FBref SoT% and check data quality</a:t>
            </a:r>
            <a:endParaRPr lang="en-US" sz="1130" dirty="0"/>
          </a:p>
        </p:txBody>
      </p:sp>
      <p:sp>
        <p:nvSpPr>
          <p:cNvPr id="23" name="Text 21"/>
          <p:cNvSpPr/>
          <p:nvPr/>
        </p:nvSpPr>
        <p:spPr>
          <a:xfrm>
            <a:off x="9692640" y="1993392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AA8B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9838944" y="1353312"/>
            <a:ext cx="2148840" cy="1920240"/>
          </a:xfrm>
          <a:prstGeom prst="roundRect">
            <a:avLst>
              <a:gd name="adj" fmla="val 3810"/>
            </a:avLst>
          </a:prstGeom>
          <a:solidFill>
            <a:srgbClr val="F3ECFA"/>
          </a:solidFill>
          <a:ln w="12700">
            <a:solidFill>
              <a:srgbClr val="F3ECF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9985248" y="1508760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B46C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9985248" y="193852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355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Sample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985248" y="2340864"/>
            <a:ext cx="1810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 knockout + 12 eliminated teams</a:t>
            </a:r>
            <a:endParaRPr lang="en-US" sz="1130" dirty="0"/>
          </a:p>
        </p:txBody>
      </p:sp>
      <p:sp>
        <p:nvSpPr>
          <p:cNvPr id="28" name="Shape 26"/>
          <p:cNvSpPr/>
          <p:nvPr/>
        </p:nvSpPr>
        <p:spPr>
          <a:xfrm>
            <a:off x="621792" y="3703320"/>
            <a:ext cx="544068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896112" y="394106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7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checks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96112" y="431596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F85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758952" y="4709160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values</a:t>
            </a:r>
            <a:endParaRPr lang="en-US" sz="1020" dirty="0"/>
          </a:p>
        </p:txBody>
      </p:sp>
      <p:sp>
        <p:nvSpPr>
          <p:cNvPr id="32" name="Text 30"/>
          <p:cNvSpPr/>
          <p:nvPr/>
        </p:nvSpPr>
        <p:spPr>
          <a:xfrm>
            <a:off x="2130552" y="431596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F85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1993392" y="4709160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Duplicate teams</a:t>
            </a:r>
            <a:endParaRPr lang="en-US" sz="1020" dirty="0"/>
          </a:p>
        </p:txBody>
      </p:sp>
      <p:sp>
        <p:nvSpPr>
          <p:cNvPr id="34" name="Text 32"/>
          <p:cNvSpPr/>
          <p:nvPr/>
        </p:nvSpPr>
        <p:spPr>
          <a:xfrm>
            <a:off x="3364992" y="431596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F85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3227832" y="4709160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Teams with zero shots</a:t>
            </a:r>
            <a:endParaRPr lang="en-US" sz="1020" dirty="0"/>
          </a:p>
        </p:txBody>
      </p:sp>
      <p:sp>
        <p:nvSpPr>
          <p:cNvPr id="36" name="Text 34"/>
          <p:cNvSpPr/>
          <p:nvPr/>
        </p:nvSpPr>
        <p:spPr>
          <a:xfrm>
            <a:off x="4599432" y="431596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F85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4462272" y="4709160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SoT &gt; total shots</a:t>
            </a:r>
            <a:endParaRPr lang="en-US" sz="1020" dirty="0"/>
          </a:p>
        </p:txBody>
      </p:sp>
      <p:sp>
        <p:nvSpPr>
          <p:cNvPr id="38" name="Shape 36"/>
          <p:cNvSpPr/>
          <p:nvPr/>
        </p:nvSpPr>
        <p:spPr>
          <a:xfrm>
            <a:off x="6291072" y="3703320"/>
            <a:ext cx="5285232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7"/>
          <p:cNvSpPr/>
          <p:nvPr/>
        </p:nvSpPr>
        <p:spPr>
          <a:xfrm>
            <a:off x="6565392" y="394106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7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Sampling logic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565392" y="4343400"/>
            <a:ext cx="1417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Population ratio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8028432" y="42793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355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32 : 16  =  2 : 1</a:t>
            </a:r>
            <a:endParaRPr lang="en-US" sz="1900" dirty="0"/>
          </a:p>
        </p:txBody>
      </p:sp>
      <p:sp>
        <p:nvSpPr>
          <p:cNvPr id="42" name="Text 40"/>
          <p:cNvSpPr/>
          <p:nvPr/>
        </p:nvSpPr>
        <p:spPr>
          <a:xfrm>
            <a:off x="6565392" y="4791456"/>
            <a:ext cx="1417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Sample ratio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8028432" y="471830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355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24 : 12  =  2 : 1</a:t>
            </a:r>
            <a:endParaRPr lang="en-US" sz="1900" dirty="0"/>
          </a:p>
        </p:txBody>
      </p:sp>
      <p:sp>
        <p:nvSpPr>
          <p:cNvPr id="44" name="Text 42"/>
          <p:cNvSpPr/>
          <p:nvPr/>
        </p:nvSpPr>
        <p:spPr>
          <a:xfrm>
            <a:off x="9464040" y="437083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random_state = 42 → reproducible sample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03504" y="6208776"/>
            <a:ext cx="10927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 construction and validation were performed in Python; Excel was not used for analysis.</a:t>
            </a:r>
            <a:endParaRPr lang="en-US" sz="850" dirty="0"/>
          </a:p>
        </p:txBody>
      </p:sp>
      <p:sp>
        <p:nvSpPr>
          <p:cNvPr id="4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r>
              <a:rPr sz="900">
                <a:solidFill>
                  <a:srgbClr val="7B8794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355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Descriptive Results &amp; 95% Confidence Intervals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75895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Knockout teams show higher central tendency in the sample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03504" y="1207008"/>
            <a:ext cx="653796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" name="Image 0" descr="/mnt/data/task1_boxpl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517904"/>
            <a:ext cx="5925312" cy="3703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5303520"/>
            <a:ext cx="5669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Boxplot of sample shooting accuracy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7388352" y="1207008"/>
            <a:ext cx="4187952" cy="1993392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7680960" y="14630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7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Sample means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662672" y="1847088"/>
            <a:ext cx="1481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B355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35.48%</a:t>
            </a:r>
            <a:endParaRPr lang="en-US" sz="2900" dirty="0"/>
          </a:p>
        </p:txBody>
      </p:sp>
      <p:sp>
        <p:nvSpPr>
          <p:cNvPr id="10" name="Text 7"/>
          <p:cNvSpPr/>
          <p:nvPr/>
        </p:nvSpPr>
        <p:spPr>
          <a:xfrm>
            <a:off x="7680960" y="2350008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Knockout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9372600" y="1773936"/>
            <a:ext cx="0" cy="950976"/>
          </a:xfrm>
          <a:prstGeom prst="line">
            <a:avLst/>
          </a:prstGeom>
          <a:noFill/>
          <a:ln w="12700">
            <a:solidFill>
              <a:srgbClr val="D8E1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9674352" y="1847088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6B72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27.28%</a:t>
            </a:r>
            <a:endParaRPr lang="en-US" sz="2900" dirty="0"/>
          </a:p>
        </p:txBody>
      </p:sp>
      <p:sp>
        <p:nvSpPr>
          <p:cNvPr id="13" name="Text 10"/>
          <p:cNvSpPr/>
          <p:nvPr/>
        </p:nvSpPr>
        <p:spPr>
          <a:xfrm>
            <a:off x="9692640" y="2350008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Eliminated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7680960" y="2743200"/>
            <a:ext cx="3127248" cy="310896"/>
          </a:xfrm>
          <a:prstGeom prst="roundRect">
            <a:avLst/>
          </a:prstGeom>
          <a:solidFill>
            <a:srgbClr val="EAF7EF"/>
          </a:solidFill>
          <a:ln w="12700">
            <a:solidFill>
              <a:srgbClr val="EAF7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2"/>
          <p:cNvSpPr/>
          <p:nvPr/>
        </p:nvSpPr>
        <p:spPr>
          <a:xfrm>
            <a:off x="7726680" y="2770632"/>
            <a:ext cx="3035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F85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Difference = +8.20 percentage points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388352" y="3456432"/>
            <a:ext cx="4187952" cy="2276856"/>
          </a:xfrm>
          <a:prstGeom prst="roundRect">
            <a:avLst>
              <a:gd name="adj" fmla="val 3213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4"/>
          <p:cNvSpPr/>
          <p:nvPr/>
        </p:nvSpPr>
        <p:spPr>
          <a:xfrm>
            <a:off x="7680960" y="373075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7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95% confidence intervals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680960" y="4187952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Knockout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8759952" y="411480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355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32.02% — 38.94%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7680960" y="4736592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Eliminated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8759952" y="466344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B72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20.91% — 33.66%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7680960" y="5184648"/>
            <a:ext cx="34015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descriptive pattern favours knockout teams, but inferential testing is still required.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03504" y="6208776"/>
            <a:ext cx="10927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Sample: n = 24 knockout teams; n = 12 group-stage-eliminated teams.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r>
              <a:rPr sz="900">
                <a:solidFill>
                  <a:srgbClr val="7B8794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2500" b="1">
                <a:solidFill>
                  <a:srgbClr val="1B3556"/>
                </a:solidFill>
                <a:latin typeface="Aptos Display"/>
              </a:rPr>
              <a:t>5. Hypothesis Test &amp; Assumptions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75895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One-sided Welch two-sample t-test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03504" y="1234440"/>
            <a:ext cx="53492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896112" y="149047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7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Hypotheses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96112" y="19202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355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H₀: μK = μE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072384" y="19202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6CB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Hₐ: μK &gt; μE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03504" y="2971800"/>
            <a:ext cx="5349240" cy="1993392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896112" y="321868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7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Assumption check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96112" y="361188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Shapiro–Wilk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96112" y="39502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85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Knockout  p = 0.676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907792" y="39502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85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Eliminated  p = 0.149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96112" y="4370832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Both &gt; 0.05 → no significant evidence of non-normality.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17920" y="1234440"/>
            <a:ext cx="5358384" cy="2468880"/>
          </a:xfrm>
          <a:prstGeom prst="roundRect">
            <a:avLst>
              <a:gd name="adj" fmla="val 2963"/>
            </a:avLst>
          </a:prstGeom>
          <a:solidFill>
            <a:srgbClr val="1B3556"/>
          </a:solidFill>
          <a:ln w="12700">
            <a:solidFill>
              <a:srgbClr val="1B355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6565392" y="155448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E8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Welch two-sample t-test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65392" y="20116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 = 2.449</a:t>
            </a:r>
            <a:endParaRPr lang="en-US" sz="3100" dirty="0"/>
          </a:p>
        </p:txBody>
      </p:sp>
      <p:sp>
        <p:nvSpPr>
          <p:cNvPr id="17" name="Text 15"/>
          <p:cNvSpPr/>
          <p:nvPr/>
        </p:nvSpPr>
        <p:spPr>
          <a:xfrm>
            <a:off x="8814816" y="20116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 = 0.0122</a:t>
            </a:r>
            <a:endParaRPr lang="en-US" sz="3100" dirty="0"/>
          </a:p>
        </p:txBody>
      </p:sp>
      <p:sp>
        <p:nvSpPr>
          <p:cNvPr id="18" name="Text 16"/>
          <p:cNvSpPr/>
          <p:nvPr/>
        </p:nvSpPr>
        <p:spPr>
          <a:xfrm>
            <a:off x="6565392" y="279806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FF0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 &lt; 0.05  →  Reject H₀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217920" y="3950208"/>
            <a:ext cx="5358384" cy="1691640"/>
          </a:xfrm>
          <a:prstGeom prst="roundRect">
            <a:avLst>
              <a:gd name="adj" fmla="val 4324"/>
            </a:avLst>
          </a:prstGeom>
          <a:solidFill>
            <a:srgbClr val="EAF7EF"/>
          </a:solidFill>
          <a:ln w="12700">
            <a:solidFill>
              <a:srgbClr val="CDEAD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6528816" y="41879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1200" b="1">
                <a:solidFill>
                  <a:srgbClr val="2F855A"/>
                </a:solidFill>
                <a:latin typeface="Aptos"/>
              </a:rPr>
              <a:t>Statistical decision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28816" y="4553712"/>
            <a:ext cx="4526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1400" b="1">
                <a:solidFill>
                  <a:srgbClr val="1F2937"/>
                </a:solidFill>
                <a:latin typeface="Aptos"/>
              </a:rPr>
              <a:t>Reject H₀ because p = 0.0122 &lt; 0.05.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03504" y="5230368"/>
            <a:ext cx="5349240" cy="658368"/>
          </a:xfrm>
          <a:prstGeom prst="roundRect">
            <a:avLst>
              <a:gd name="adj" fmla="val 11111"/>
            </a:avLst>
          </a:prstGeom>
          <a:solidFill>
            <a:srgbClr val="FFF5D6"/>
          </a:solidFill>
          <a:ln w="12700">
            <a:solidFill>
              <a:srgbClr val="F0DB9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859536" y="5394960"/>
            <a:ext cx="4828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000"/>
              <a:t>Significance level: α = 0.05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r>
              <a:rPr sz="900">
                <a:solidFill>
                  <a:srgbClr val="7B8794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B3556"/>
                </a:solidFill>
                <a:latin typeface="Aptos Display"/>
              </a:rPr>
              <a:t>6. Lessons Learned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58952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F6B7A"/>
                </a:solidFill>
                <a:latin typeface="Aptos"/>
              </a:rPr>
              <a:t>What this analytic task taught me about practical data science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419088"/>
            <a:ext cx="274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7B8794"/>
                </a:solidFill>
                <a:latin typeface="Aptos"/>
              </a:rPr>
              <a:t>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508760"/>
            <a:ext cx="3246120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7240" y="1508760"/>
            <a:ext cx="3246120" cy="118872"/>
          </a:xfrm>
          <a:prstGeom prst="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4128" y="1947672"/>
            <a:ext cx="2743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B3556"/>
                </a:solidFill>
                <a:latin typeface="Aptos Display"/>
              </a:rPr>
              <a:t>Meaningful metrics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2624328"/>
            <a:ext cx="27432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F6B7A"/>
                </a:solidFill>
                <a:latin typeface="Aptos"/>
              </a:rPr>
              <a:t>Rates and percentages can make comparisons fairer than raw totals when exposure differs.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508760"/>
            <a:ext cx="3246120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80560" y="1508760"/>
            <a:ext cx="3246120" cy="118872"/>
          </a:xfrm>
          <a:prstGeom prst="rect">
            <a:avLst/>
          </a:prstGeom>
          <a:solidFill>
            <a:srgbClr val="1F7A7A"/>
          </a:solidFill>
          <a:ln>
            <a:solidFill>
              <a:srgbClr val="1F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27448" y="1947672"/>
            <a:ext cx="2743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B3556"/>
                </a:solidFill>
                <a:latin typeface="Aptos Display"/>
              </a:rPr>
              <a:t>Validate before testing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27448" y="2624328"/>
            <a:ext cx="27432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F6B7A"/>
                </a:solidFill>
                <a:latin typeface="Aptos"/>
              </a:rPr>
              <a:t>Cleaning, logical checks and source validation reduce the risk of drawing conclusions from bad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80" y="1508760"/>
            <a:ext cx="3246120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83880" y="1508760"/>
            <a:ext cx="3246120" cy="118872"/>
          </a:xfrm>
          <a:prstGeom prst="rect">
            <a:avLst/>
          </a:prstGeom>
          <a:solidFill>
            <a:srgbClr val="1F293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30768" y="1947672"/>
            <a:ext cx="2743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B3556"/>
                </a:solidFill>
                <a:latin typeface="Aptos Display"/>
              </a:rPr>
              <a:t>Interpret evidence carefully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0768" y="2624328"/>
            <a:ext cx="27432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F6B7A"/>
                </a:solidFill>
                <a:latin typeface="Aptos"/>
              </a:rPr>
              <a:t>A small p-value supports evidence of a difference, but it does not establish causation.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736592"/>
            <a:ext cx="10652760" cy="960120"/>
          </a:xfrm>
          <a:prstGeom prst="roundRect">
            <a:avLst/>
          </a:prstGeom>
          <a:solidFill>
            <a:srgbClr val="EAF7EF"/>
          </a:solidFill>
          <a:ln w="12700">
            <a:solidFill>
              <a:srgbClr val="EAF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24128" y="4937760"/>
            <a:ext cx="1965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F7A7A"/>
                </a:solidFill>
                <a:latin typeface="Aptos"/>
              </a:rPr>
              <a:t>Practical improvement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4882896"/>
            <a:ext cx="8092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F2937"/>
                </a:solidFill>
                <a:latin typeface="Aptos"/>
              </a:rPr>
              <a:t>Compare group-stage matches only so both groups are evaluated over the same tournament phase and exposure.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46304"/>
          </a:xfrm>
          <a:prstGeom prst="rect">
            <a:avLst/>
          </a:prstGeom>
          <a:solidFill>
            <a:srgbClr val="1F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789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B3556"/>
                </a:solidFill>
                <a:latin typeface="Aptos Display"/>
              </a:rPr>
              <a:t>7.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87552"/>
            <a:ext cx="107899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5F6B7A"/>
                </a:solidFill>
                <a:latin typeface="Aptos"/>
              </a:rPr>
              <a:t>What the analysis shows — and what it does not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54480"/>
            <a:ext cx="10835640" cy="1417320"/>
          </a:xfrm>
          <a:prstGeom prst="roundRect">
            <a:avLst/>
          </a:prstGeom>
          <a:solidFill>
            <a:srgbClr val="E8F7EE"/>
          </a:solidFill>
          <a:ln>
            <a:solidFill>
              <a:srgbClr val="C5E2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64792"/>
            <a:ext cx="2286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>
                <a:solidFill>
                  <a:srgbClr val="2F855A"/>
                </a:solidFill>
                <a:latin typeface="Aptos"/>
              </a:rPr>
              <a:t>KEY FINDING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48256"/>
            <a:ext cx="101498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Knockout-stage teams had higher average shooting accuracy.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96896"/>
            <a:ext cx="101498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/>
              <a:t>35.48% vs 27.28%  •  difference = +8.20 percentage points  •  p = 0.0122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310128"/>
            <a:ext cx="3456432" cy="2212848"/>
          </a:xfrm>
          <a:prstGeom prst="roundRect">
            <a:avLst/>
          </a:prstGeom>
          <a:solidFill>
            <a:srgbClr val="ECF3FA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5800" y="3310128"/>
            <a:ext cx="73152" cy="221284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41832" y="3529584"/>
            <a:ext cx="30175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2B6CB0"/>
                </a:solidFill>
                <a:latin typeface="Aptos"/>
              </a:rPr>
              <a:t>STATISTICAL 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3968496"/>
            <a:ext cx="3017520" cy="12618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/>
              <a:t>There is statistically significant evidence that knockout-stage teams had higher average shooting accuracy.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1" y="3310128"/>
            <a:ext cx="3456432" cy="2212848"/>
          </a:xfrm>
          <a:prstGeom prst="roundRect">
            <a:avLst/>
          </a:prstGeom>
          <a:solidFill>
            <a:srgbClr val="FCF7E8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70831" y="3310128"/>
            <a:ext cx="73152" cy="2212848"/>
          </a:xfrm>
          <a:prstGeom prst="rect">
            <a:avLst/>
          </a:prstGeom>
          <a:solidFill>
            <a:srgbClr val="9A6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26863" y="3529584"/>
            <a:ext cx="30175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9A6F1F"/>
                </a:solidFill>
                <a:latin typeface="Aptos"/>
              </a:rPr>
              <a:t>LIMITATION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6863" y="3968496"/>
            <a:ext cx="3017520" cy="12618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/>
              <a:t>FBref reports whole-tournament squad statistics, so knockout teams played more matches and faced different opponents.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55863" y="3310128"/>
            <a:ext cx="3456432" cy="2212848"/>
          </a:xfrm>
          <a:prstGeom prst="roundRect">
            <a:avLst/>
          </a:prstGeom>
          <a:solidFill>
            <a:srgbClr val="F7F9FC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55863" y="3310128"/>
            <a:ext cx="73152" cy="2212848"/>
          </a:xfrm>
          <a:prstGeom prst="rect">
            <a:avLst/>
          </a:prstGeom>
          <a:solidFill>
            <a:srgbClr val="1F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11895" y="3529584"/>
            <a:ext cx="30175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1F7A7A"/>
                </a:solidFill>
                <a:latin typeface="Aptos"/>
              </a:rPr>
              <a:t>NEXT STEP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1895" y="3968496"/>
            <a:ext cx="3017520" cy="12618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/>
              <a:t>Compare group-stage matches only so both groups are evaluated over the same tournament phase and exposure.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053328"/>
            <a:ext cx="108356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50"/>
              <a:t>This analysis shows an association/difference — not that shooting accuracy caused knockout qualification.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28232"/>
            <a:ext cx="3200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>
                <a:solidFill>
                  <a:srgbClr val="7B8794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805</Words>
  <Application>Microsoft Office PowerPoint</Application>
  <PresentationFormat>Widescreen</PresentationFormat>
  <Paragraphs>159</Paragraphs>
  <Slides>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Charles Darwin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FIFA World Cup 2026 - Shooting Accuracy</dc:title>
  <dc:subject>HIT140 Foundations of Data Science - Analytic Task 1</dc:subject>
  <dc:creator>Krupa Maria Salim</dc:creator>
  <cp:lastModifiedBy>Krupa Maria Salim</cp:lastModifiedBy>
  <cp:revision>3</cp:revision>
  <dcterms:created xsi:type="dcterms:W3CDTF">2026-09-12T10:38:56Z</dcterms:created>
  <dcterms:modified xsi:type="dcterms:W3CDTF">2026-09-13T03:29:35Z</dcterms:modified>
</cp:coreProperties>
</file>